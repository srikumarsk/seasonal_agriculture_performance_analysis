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66" d="100"/>
          <a:sy n="66" d="100"/>
        </p:scale>
        <p:origin x="1234" y="55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5.jp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jp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rikumarsk/Seasonal_Agriculture_Performance_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11393"/>
            <a:ext cx="9644949" cy="861497"/>
          </a:xfrm>
        </p:spPr>
        <p:txBody>
          <a:bodyPr vert="horz" lIns="91440" tIns="45720" rIns="91440" bIns="45720" rtlCol="0" anchor="t">
            <a:noAutofit/>
          </a:bodyPr>
          <a:lstStyle/>
          <a:p>
            <a:r>
              <a:rPr dirty="0">
                <a:solidFill>
                  <a:schemeClr val="accent2"/>
                </a:solidFill>
                <a:latin typeface="Times New Roman"/>
              </a:rPr>
              <a:t>Muppidi Sri Kumar</a:t>
            </a:r>
            <a:endParaRPr lang="en-US" dirty="0">
              <a:solidFill>
                <a:schemeClr val="accent2"/>
              </a:solidFill>
              <a:latin typeface="Times New Roman"/>
            </a:endParaRPr>
          </a:p>
          <a:p>
            <a:br>
              <a:rPr dirty="0"/>
            </a:br>
            <a:r>
              <a:rPr dirty="0">
                <a:solidFill>
                  <a:srgbClr val="191919"/>
                </a:solidFill>
                <a:latin typeface="Times New Roman"/>
              </a:rPr>
              <a:t>Malla Reddy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8176269" cy="743448"/>
          </a:xfrm>
        </p:spPr>
        <p:txBody>
          <a:bodyPr>
            <a:normAutofit fontScale="90000"/>
          </a:bodyPr>
          <a:lstStyle/>
          <a:p>
            <a:r>
              <a:rPr sz="2600" b="1" dirty="0">
                <a:solidFill>
                  <a:srgbClr val="191919"/>
                </a:solidFill>
                <a:latin typeface="Times New Roman"/>
              </a:rPr>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05992" y="4890172"/>
            <a:ext cx="7086999" cy="400110"/>
          </a:xfrm>
          <a:prstGeom prst="rect">
            <a:avLst/>
          </a:prstGeom>
          <a:noFill/>
        </p:spPr>
        <p:txBody>
          <a:bodyPr wrap="square" rtlCol="0">
            <a:spAutoFit/>
          </a:bodyPr>
          <a:lstStyle/>
          <a:p>
            <a:r>
              <a:rPr sz="2000" b="1" dirty="0">
                <a:solidFill>
                  <a:srgbClr val="191919"/>
                </a:solidFill>
                <a:latin typeface="Times New Roman"/>
              </a:rPr>
              <a:t>AICTE STU ID : STU679c9a8c8b9a01738316428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b="1" dirty="0">
                <a:solidFill>
                  <a:srgbClr val="191919"/>
                </a:solidFill>
                <a:latin typeface="Times New Roman"/>
              </a:rPr>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238752" y="3593591"/>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532435" y="2143710"/>
            <a:ext cx="8935656" cy="1938992"/>
          </a:xfrm>
          <a:prstGeom prst="rect">
            <a:avLst/>
          </a:prstGeom>
          <a:noFill/>
        </p:spPr>
        <p:txBody>
          <a:bodyPr wrap="square">
            <a:spAutoFit/>
          </a:bodyPr>
          <a:lstStyle/>
          <a:p>
            <a:pPr algn="just"/>
            <a:r>
              <a:rPr sz="2000" b="0" dirty="0">
                <a:solidFill>
                  <a:srgbClr val="191919"/>
                </a:solidFill>
                <a:latin typeface="Times New Roman"/>
              </a:rPr>
              <a:t>Agricultural performance changes across seasons due to variations in rainfall, temperature, humidity, soil conditions, farming practices, resource usage and market conditions. Raw data alone does not clearly show these seasonal differences. The problem is to analyze the agricultural dataset and identify meaningful patterns, relationships and variations in yield, production, profitability and resource efficiency across seasons.</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2088394"/>
            <a:ext cx="9995901" cy="3167347"/>
          </a:xfrm>
        </p:spPr>
        <p:txBody>
          <a:bodyPr>
            <a:normAutofit/>
          </a:bodyPr>
          <a:lstStyle/>
          <a:p>
            <a:pPr algn="just"/>
            <a:r>
              <a:rPr sz="2000" b="0" dirty="0">
                <a:solidFill>
                  <a:srgbClr val="191919"/>
                </a:solidFill>
                <a:latin typeface="Times New Roman"/>
              </a:rPr>
              <a:t>This project performs Exploratory Data Analysis on seasonal agricultural data</a:t>
            </a:r>
            <a:r>
              <a:rPr lang="en-US" sz="2000" b="0" dirty="0">
                <a:solidFill>
                  <a:srgbClr val="191919"/>
                </a:solidFill>
                <a:latin typeface="Times New Roman"/>
              </a:rPr>
              <a:t>. The analysis compares crop yield, production, revenue, profit, environmental conditions, water usage, irrigation methods and regional performance. Statistical summaries, comparison charts, scatter plots, correlation analysis and distribution analysis are used to identify useful seasonal patterns and support data-driven agricultural planning</a:t>
            </a:r>
            <a:r>
              <a:rPr lang="en-US" sz="2000" dirty="0">
                <a:solidFill>
                  <a:srgbClr val="191919"/>
                </a:solidFill>
                <a:latin typeface="Times New Roman"/>
              </a:rPr>
              <a:t>.</a:t>
            </a: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44E7BE2-8308-CAC0-B33B-A5DC7AEFABE6}"/>
              </a:ext>
            </a:extLst>
          </p:cNvPr>
          <p:cNvSpPr txBox="1"/>
          <p:nvPr/>
        </p:nvSpPr>
        <p:spPr>
          <a:xfrm>
            <a:off x="467359" y="741680"/>
            <a:ext cx="8294675"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PROJECT DESCRIPTION</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400" b="1" dirty="0">
                <a:solidFill>
                  <a:srgbClr val="191919"/>
                </a:solidFill>
                <a:latin typeface="Times New Roman"/>
              </a:rPr>
              <a:t>WHO ARE THE END USERS?</a:t>
            </a:r>
            <a:endParaRPr lang="en-IN" sz="44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894080" y="2011680"/>
            <a:ext cx="7315200" cy="1938992"/>
          </a:xfrm>
          <a:prstGeom prst="rect">
            <a:avLst/>
          </a:prstGeom>
          <a:noFill/>
        </p:spPr>
        <p:txBody>
          <a:bodyPr wrap="square">
            <a:spAutoFit/>
          </a:bodyPr>
          <a:lstStyle/>
          <a:p>
            <a:pPr algn="l"/>
            <a:r>
              <a:rPr sz="2000" b="0" dirty="0">
                <a:solidFill>
                  <a:srgbClr val="191919"/>
                </a:solidFill>
                <a:latin typeface="Times New Roman"/>
              </a:rPr>
              <a:t>• Farmers and agricultural planners</a:t>
            </a:r>
            <a:br>
              <a:rPr sz="2000" dirty="0"/>
            </a:br>
            <a:r>
              <a:rPr sz="2000" dirty="0">
                <a:solidFill>
                  <a:srgbClr val="191919"/>
                </a:solidFill>
                <a:latin typeface="Times New Roman"/>
              </a:rPr>
              <a:t>• Agricultural researchers and analysts</a:t>
            </a:r>
            <a:br>
              <a:rPr sz="2000" dirty="0"/>
            </a:br>
            <a:r>
              <a:rPr sz="2000" dirty="0">
                <a:solidFill>
                  <a:srgbClr val="191919"/>
                </a:solidFill>
                <a:latin typeface="Times New Roman"/>
              </a:rPr>
              <a:t>• Government and policy-making bodies</a:t>
            </a:r>
            <a:br>
              <a:rPr sz="2000" dirty="0"/>
            </a:br>
            <a:r>
              <a:rPr sz="2000" dirty="0">
                <a:solidFill>
                  <a:srgbClr val="191919"/>
                </a:solidFill>
                <a:latin typeface="Times New Roman"/>
              </a:rPr>
              <a:t>• Irrigation and resource management teams</a:t>
            </a:r>
            <a:br>
              <a:rPr sz="2000" dirty="0"/>
            </a:br>
            <a:r>
              <a:rPr sz="2000" dirty="0">
                <a:solidFill>
                  <a:srgbClr val="191919"/>
                </a:solidFill>
                <a:latin typeface="Times New Roman"/>
              </a:rPr>
              <a:t>• Agribusiness organizations</a:t>
            </a:r>
            <a:br>
              <a:rPr sz="2000" dirty="0"/>
            </a:br>
            <a:r>
              <a:rPr sz="2000" dirty="0">
                <a:solidFill>
                  <a:srgbClr val="191919"/>
                </a:solidFill>
                <a:latin typeface="Times New Roman"/>
              </a:rPr>
              <a:t>• Students and researchers working on agricultural analytics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7132320" cy="847817"/>
          </a:xfrm>
        </p:spPr>
        <p:txBody>
          <a:bodyPr>
            <a:normAutofit/>
          </a:bodyPr>
          <a:lstStyle/>
          <a:p>
            <a:r>
              <a:rPr lang="en-US" sz="4400" b="1" dirty="0">
                <a:solidFill>
                  <a:srgbClr val="191919"/>
                </a:solidFill>
                <a:latin typeface="Times New Roman"/>
              </a:rPr>
              <a:t>TECHNOLOGY USED</a:t>
            </a:r>
          </a:p>
        </p:txBody>
      </p:sp>
      <p:sp>
        <p:nvSpPr>
          <p:cNvPr id="17" name="TextBox 16"/>
          <p:cNvSpPr txBox="1"/>
          <p:nvPr/>
        </p:nvSpPr>
        <p:spPr>
          <a:xfrm>
            <a:off x="1524000" y="1508760"/>
            <a:ext cx="7132320" cy="2862322"/>
          </a:xfrm>
          <a:prstGeom prst="rect">
            <a:avLst/>
          </a:prstGeom>
          <a:noFill/>
        </p:spPr>
        <p:txBody>
          <a:bodyPr wrap="square">
            <a:spAutoFit/>
          </a:bodyPr>
          <a:lstStyle/>
          <a:p>
            <a:pPr algn="l"/>
            <a:r>
              <a:rPr sz="2000" b="1" dirty="0">
                <a:solidFill>
                  <a:srgbClr val="191919"/>
                </a:solidFill>
                <a:latin typeface="Times New Roman" panose="02020603050405020304" pitchFamily="18" charset="0"/>
                <a:cs typeface="Times New Roman" panose="02020603050405020304" pitchFamily="18" charset="0"/>
              </a:rPr>
              <a:t>Programming &amp; Analysis</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Python</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Pandas and NumPy</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Matplotlib and Seaborn</a:t>
            </a:r>
            <a:br>
              <a:rPr sz="2000" dirty="0">
                <a:latin typeface="Times New Roman" panose="02020603050405020304" pitchFamily="18" charset="0"/>
                <a:cs typeface="Times New Roman" panose="02020603050405020304" pitchFamily="18" charset="0"/>
              </a:rPr>
            </a:br>
            <a:br>
              <a:rPr sz="2000" dirty="0">
                <a:latin typeface="Times New Roman" panose="02020603050405020304" pitchFamily="18" charset="0"/>
                <a:cs typeface="Times New Roman" panose="02020603050405020304" pitchFamily="18" charset="0"/>
              </a:rPr>
            </a:br>
            <a:r>
              <a:rPr sz="2000" b="1" dirty="0">
                <a:solidFill>
                  <a:srgbClr val="191919"/>
                </a:solidFill>
                <a:latin typeface="Times New Roman" panose="02020603050405020304" pitchFamily="18" charset="0"/>
                <a:cs typeface="Times New Roman" panose="02020603050405020304" pitchFamily="18" charset="0"/>
              </a:rPr>
              <a:t>Tools</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a:t>
            </a:r>
            <a:r>
              <a:rPr lang="en-US" sz="2000" dirty="0">
                <a:solidFill>
                  <a:srgbClr val="191919"/>
                </a:solidFill>
                <a:latin typeface="Times New Roman" panose="02020603050405020304" pitchFamily="18" charset="0"/>
                <a:cs typeface="Times New Roman" panose="02020603050405020304" pitchFamily="18" charset="0"/>
              </a:rPr>
              <a:t>Google </a:t>
            </a:r>
            <a:r>
              <a:rPr lang="en-US" sz="2000" dirty="0" err="1">
                <a:solidFill>
                  <a:srgbClr val="191919"/>
                </a:solidFill>
                <a:latin typeface="Times New Roman" panose="02020603050405020304" pitchFamily="18" charset="0"/>
                <a:cs typeface="Times New Roman" panose="02020603050405020304" pitchFamily="18" charset="0"/>
              </a:rPr>
              <a:t>Colab</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CSV Dataset</a:t>
            </a:r>
            <a:br>
              <a:rPr sz="2000" dirty="0">
                <a:latin typeface="Times New Roman" panose="02020603050405020304" pitchFamily="18" charset="0"/>
                <a:cs typeface="Times New Roman" panose="02020603050405020304" pitchFamily="18" charset="0"/>
              </a:rPr>
            </a:br>
            <a:r>
              <a:rPr sz="2000" dirty="0">
                <a:solidFill>
                  <a:srgbClr val="191919"/>
                </a:solidFill>
                <a:latin typeface="Times New Roman" panose="02020603050405020304" pitchFamily="18" charset="0"/>
                <a:cs typeface="Times New Roman" panose="02020603050405020304" pitchFamily="18" charset="0"/>
              </a:rPr>
              <a:t>• Data Visualization and Exploratory Data Analysis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400" b="1" dirty="0">
                <a:solidFill>
                  <a:srgbClr val="191919"/>
                </a:solidFill>
                <a:latin typeface="Times New Roman"/>
              </a:rPr>
              <a:t>RESULTS </a:t>
            </a:r>
            <a:endParaRPr lang="en-IN" sz="44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051560"/>
            <a:ext cx="7680960" cy="411480"/>
          </a:xfrm>
          <a:prstGeom prst="rect">
            <a:avLst/>
          </a:prstGeom>
          <a:noFill/>
        </p:spPr>
        <p:txBody>
          <a:bodyPr wrap="square">
            <a:spAutoFit/>
          </a:bodyPr>
          <a:lstStyle/>
          <a:p>
            <a:pPr algn="l"/>
            <a:r>
              <a:rPr sz="2400" b="1">
                <a:solidFill>
                  <a:srgbClr val="191919"/>
                </a:solidFill>
                <a:latin typeface="Times New Roman"/>
              </a:rPr>
              <a:t>Seasonal Performance Comparison</a:t>
            </a:r>
          </a:p>
        </p:txBody>
      </p:sp>
      <p:pic>
        <p:nvPicPr>
          <p:cNvPr id="32" name="Picture 31" descr="mpss1.jpg"/>
          <p:cNvPicPr>
            <a:picLocks noChangeAspect="1"/>
          </p:cNvPicPr>
          <p:nvPr/>
        </p:nvPicPr>
        <p:blipFill>
          <a:blip r:embed="rId3"/>
          <a:stretch>
            <a:fillRect/>
          </a:stretch>
        </p:blipFill>
        <p:spPr>
          <a:xfrm>
            <a:off x="680035" y="1554480"/>
            <a:ext cx="3029049" cy="3474720"/>
          </a:xfrm>
          <a:prstGeom prst="rect">
            <a:avLst/>
          </a:prstGeom>
        </p:spPr>
      </p:pic>
      <p:pic>
        <p:nvPicPr>
          <p:cNvPr id="33" name="Picture 32" descr="mpss8.jpg"/>
          <p:cNvPicPr>
            <a:picLocks noChangeAspect="1"/>
          </p:cNvPicPr>
          <p:nvPr/>
        </p:nvPicPr>
        <p:blipFill>
          <a:blip r:embed="rId4"/>
          <a:stretch>
            <a:fillRect/>
          </a:stretch>
        </p:blipFill>
        <p:spPr>
          <a:xfrm>
            <a:off x="4767416" y="1554480"/>
            <a:ext cx="2718127" cy="1737360"/>
          </a:xfrm>
          <a:prstGeom prst="rect">
            <a:avLst/>
          </a:prstGeom>
        </p:spPr>
      </p:pic>
      <p:pic>
        <p:nvPicPr>
          <p:cNvPr id="34" name="Picture 33" descr="mpss9.jpg"/>
          <p:cNvPicPr>
            <a:picLocks noChangeAspect="1"/>
          </p:cNvPicPr>
          <p:nvPr/>
        </p:nvPicPr>
        <p:blipFill>
          <a:blip r:embed="rId5"/>
          <a:stretch>
            <a:fillRect/>
          </a:stretch>
        </p:blipFill>
        <p:spPr>
          <a:xfrm>
            <a:off x="4820218" y="3337560"/>
            <a:ext cx="2612522" cy="1737360"/>
          </a:xfrm>
          <a:prstGeom prst="rect">
            <a:avLst/>
          </a:prstGeom>
        </p:spPr>
      </p:pic>
      <p:sp>
        <p:nvSpPr>
          <p:cNvPr id="35" name="TextBox 34"/>
          <p:cNvSpPr txBox="1"/>
          <p:nvPr/>
        </p:nvSpPr>
        <p:spPr>
          <a:xfrm>
            <a:off x="640080" y="5166360"/>
            <a:ext cx="7772400" cy="594360"/>
          </a:xfrm>
          <a:prstGeom prst="rect">
            <a:avLst/>
          </a:prstGeom>
          <a:noFill/>
        </p:spPr>
        <p:txBody>
          <a:bodyPr wrap="square">
            <a:spAutoFit/>
          </a:bodyPr>
          <a:lstStyle/>
          <a:p>
            <a:pPr algn="l"/>
            <a:r>
              <a:rPr sz="1300" b="0" i="1">
                <a:solidFill>
                  <a:srgbClr val="464646"/>
                </a:solidFill>
                <a:latin typeface="Times New Roman"/>
              </a:rPr>
              <a:t>Key observation: Yield and production vary noticeably by season. Water usage is highest in Spring and decreases towards Winter, while water efficiency is strongest in Autumn.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400" b="1" dirty="0">
                <a:solidFill>
                  <a:srgbClr val="191919"/>
                </a:solidFill>
                <a:latin typeface="Times New Roman"/>
              </a:rPr>
              <a:t>RESULTS</a:t>
            </a:r>
            <a:r>
              <a:rPr lang="en-GB" sz="2400" b="1" dirty="0">
                <a:solidFill>
                  <a:srgbClr val="191919"/>
                </a:solidFill>
                <a:latin typeface="Times New Roman"/>
              </a:rPr>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051560"/>
            <a:ext cx="7680960" cy="411480"/>
          </a:xfrm>
          <a:prstGeom prst="rect">
            <a:avLst/>
          </a:prstGeom>
          <a:noFill/>
        </p:spPr>
        <p:txBody>
          <a:bodyPr wrap="square">
            <a:spAutoFit/>
          </a:bodyPr>
          <a:lstStyle/>
          <a:p>
            <a:pPr algn="l"/>
            <a:r>
              <a:rPr sz="2400" b="1">
                <a:solidFill>
                  <a:srgbClr val="191919"/>
                </a:solidFill>
                <a:latin typeface="Times New Roman"/>
              </a:rPr>
              <a:t>Crop Performance and Profitability</a:t>
            </a:r>
          </a:p>
        </p:txBody>
      </p:sp>
      <p:pic>
        <p:nvPicPr>
          <p:cNvPr id="32" name="Picture 31" descr="mpss4.jpg"/>
          <p:cNvPicPr>
            <a:picLocks noChangeAspect="1"/>
          </p:cNvPicPr>
          <p:nvPr/>
        </p:nvPicPr>
        <p:blipFill>
          <a:blip r:embed="rId3"/>
          <a:stretch>
            <a:fillRect/>
          </a:stretch>
        </p:blipFill>
        <p:spPr>
          <a:xfrm>
            <a:off x="411480" y="1579464"/>
            <a:ext cx="2560320" cy="1473781"/>
          </a:xfrm>
          <a:prstGeom prst="rect">
            <a:avLst/>
          </a:prstGeom>
        </p:spPr>
      </p:pic>
      <p:pic>
        <p:nvPicPr>
          <p:cNvPr id="33" name="Picture 32" descr="mpss5.jpg"/>
          <p:cNvPicPr>
            <a:picLocks noChangeAspect="1"/>
          </p:cNvPicPr>
          <p:nvPr/>
        </p:nvPicPr>
        <p:blipFill>
          <a:blip r:embed="rId4"/>
          <a:stretch>
            <a:fillRect/>
          </a:stretch>
        </p:blipFill>
        <p:spPr>
          <a:xfrm>
            <a:off x="3071330" y="1608410"/>
            <a:ext cx="2560320" cy="1748133"/>
          </a:xfrm>
          <a:prstGeom prst="rect">
            <a:avLst/>
          </a:prstGeom>
        </p:spPr>
      </p:pic>
      <p:pic>
        <p:nvPicPr>
          <p:cNvPr id="34" name="Picture 33" descr="mpss6.jpg"/>
          <p:cNvPicPr>
            <a:picLocks noChangeAspect="1"/>
          </p:cNvPicPr>
          <p:nvPr/>
        </p:nvPicPr>
        <p:blipFill>
          <a:blip r:embed="rId5"/>
          <a:stretch>
            <a:fillRect/>
          </a:stretch>
        </p:blipFill>
        <p:spPr>
          <a:xfrm>
            <a:off x="5715000" y="1645781"/>
            <a:ext cx="2560320" cy="1554756"/>
          </a:xfrm>
          <a:prstGeom prst="rect">
            <a:avLst/>
          </a:prstGeom>
        </p:spPr>
      </p:pic>
      <p:pic>
        <p:nvPicPr>
          <p:cNvPr id="35" name="Picture 34" descr="mpss7.jpg"/>
          <p:cNvPicPr>
            <a:picLocks noChangeAspect="1"/>
          </p:cNvPicPr>
          <p:nvPr/>
        </p:nvPicPr>
        <p:blipFill>
          <a:blip r:embed="rId6"/>
          <a:stretch>
            <a:fillRect/>
          </a:stretch>
        </p:blipFill>
        <p:spPr>
          <a:xfrm>
            <a:off x="2762866" y="3383280"/>
            <a:ext cx="2886746" cy="1645920"/>
          </a:xfrm>
          <a:prstGeom prst="rect">
            <a:avLst/>
          </a:prstGeom>
        </p:spPr>
      </p:pic>
      <p:sp>
        <p:nvSpPr>
          <p:cNvPr id="36" name="TextBox 35"/>
          <p:cNvSpPr txBox="1"/>
          <p:nvPr/>
        </p:nvSpPr>
        <p:spPr>
          <a:xfrm>
            <a:off x="640080" y="5166360"/>
            <a:ext cx="7772400" cy="594360"/>
          </a:xfrm>
          <a:prstGeom prst="rect">
            <a:avLst/>
          </a:prstGeom>
          <a:noFill/>
        </p:spPr>
        <p:txBody>
          <a:bodyPr wrap="square">
            <a:spAutoFit/>
          </a:bodyPr>
          <a:lstStyle/>
          <a:p>
            <a:pPr algn="l"/>
            <a:r>
              <a:rPr sz="1300" b="0" i="1" dirty="0">
                <a:solidFill>
                  <a:srgbClr val="464646"/>
                </a:solidFill>
                <a:latin typeface="Times New Roman"/>
              </a:rPr>
              <a:t>Key observation: Crop performance differs significantly. Rice shows the highest average yield, while Corn shows the highest average profit and production in the analyzed data.</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4400" b="1" dirty="0">
                <a:solidFill>
                  <a:srgbClr val="191919"/>
                </a:solidFill>
                <a:latin typeface="Times New Roman"/>
              </a:rPr>
              <a:t>RESULTS </a:t>
            </a:r>
            <a:endParaRPr lang="en-IN" sz="44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051560"/>
            <a:ext cx="7680960" cy="411480"/>
          </a:xfrm>
          <a:prstGeom prst="rect">
            <a:avLst/>
          </a:prstGeom>
          <a:noFill/>
        </p:spPr>
        <p:txBody>
          <a:bodyPr wrap="square">
            <a:spAutoFit/>
          </a:bodyPr>
          <a:lstStyle/>
          <a:p>
            <a:pPr algn="l"/>
            <a:r>
              <a:rPr sz="2400" b="1">
                <a:solidFill>
                  <a:srgbClr val="191919"/>
                </a:solidFill>
                <a:latin typeface="Times New Roman"/>
              </a:rPr>
              <a:t>Environmental Conditions Across Seasons</a:t>
            </a:r>
          </a:p>
        </p:txBody>
      </p:sp>
      <p:pic>
        <p:nvPicPr>
          <p:cNvPr id="32" name="Picture 31" descr="mpss2.jpg"/>
          <p:cNvPicPr>
            <a:picLocks noChangeAspect="1"/>
          </p:cNvPicPr>
          <p:nvPr/>
        </p:nvPicPr>
        <p:blipFill>
          <a:blip r:embed="rId3"/>
          <a:stretch>
            <a:fillRect/>
          </a:stretch>
        </p:blipFill>
        <p:spPr>
          <a:xfrm>
            <a:off x="778459" y="1508760"/>
            <a:ext cx="3106521" cy="3566160"/>
          </a:xfrm>
          <a:prstGeom prst="rect">
            <a:avLst/>
          </a:prstGeom>
        </p:spPr>
      </p:pic>
      <p:pic>
        <p:nvPicPr>
          <p:cNvPr id="33" name="Picture 32" descr="mpss3.jpg"/>
          <p:cNvPicPr>
            <a:picLocks noChangeAspect="1"/>
          </p:cNvPicPr>
          <p:nvPr/>
        </p:nvPicPr>
        <p:blipFill>
          <a:blip r:embed="rId4"/>
          <a:stretch>
            <a:fillRect/>
          </a:stretch>
        </p:blipFill>
        <p:spPr>
          <a:xfrm>
            <a:off x="4784963" y="1508760"/>
            <a:ext cx="2774472" cy="3566160"/>
          </a:xfrm>
          <a:prstGeom prst="rect">
            <a:avLst/>
          </a:prstGeom>
        </p:spPr>
      </p:pic>
      <p:pic>
        <p:nvPicPr>
          <p:cNvPr id="34" name="Picture 33" descr="mpss16.jpg"/>
          <p:cNvPicPr>
            <a:picLocks noChangeAspect="1"/>
          </p:cNvPicPr>
          <p:nvPr/>
        </p:nvPicPr>
        <p:blipFill>
          <a:blip r:embed="rId5"/>
          <a:stretch>
            <a:fillRect/>
          </a:stretch>
        </p:blipFill>
        <p:spPr>
          <a:xfrm>
            <a:off x="5812785" y="3886200"/>
            <a:ext cx="1907548" cy="1143000"/>
          </a:xfrm>
          <a:prstGeom prst="rect">
            <a:avLst/>
          </a:prstGeom>
        </p:spPr>
      </p:pic>
      <p:sp>
        <p:nvSpPr>
          <p:cNvPr id="35" name="TextBox 34"/>
          <p:cNvSpPr txBox="1"/>
          <p:nvPr/>
        </p:nvSpPr>
        <p:spPr>
          <a:xfrm>
            <a:off x="640080" y="5166360"/>
            <a:ext cx="7772400" cy="594360"/>
          </a:xfrm>
          <a:prstGeom prst="rect">
            <a:avLst/>
          </a:prstGeom>
          <a:noFill/>
        </p:spPr>
        <p:txBody>
          <a:bodyPr wrap="square">
            <a:spAutoFit/>
          </a:bodyPr>
          <a:lstStyle/>
          <a:p>
            <a:pPr algn="l"/>
            <a:r>
              <a:rPr sz="1300" b="0" i="1">
                <a:solidFill>
                  <a:srgbClr val="464646"/>
                </a:solidFill>
                <a:latin typeface="Times New Roman"/>
              </a:rPr>
              <a:t>Key observation: Environmental conditions change strongly between seasons. Spring has the highest rainfall, Autumn has higher humidity and soil moisture, while Summer records the highest average temperature.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4400" b="1" dirty="0">
                <a:solidFill>
                  <a:srgbClr val="191919"/>
                </a:solidFill>
                <a:latin typeface="Times New Roman"/>
              </a:rPr>
              <a:t>RESULTS </a:t>
            </a:r>
            <a:endParaRPr lang="en-IN" sz="44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502920" y="1051560"/>
            <a:ext cx="7863840" cy="411480"/>
          </a:xfrm>
          <a:prstGeom prst="rect">
            <a:avLst/>
          </a:prstGeom>
          <a:noFill/>
        </p:spPr>
        <p:txBody>
          <a:bodyPr wrap="square">
            <a:spAutoFit/>
          </a:bodyPr>
          <a:lstStyle/>
          <a:p>
            <a:pPr algn="l"/>
            <a:r>
              <a:rPr sz="2400" b="1">
                <a:solidFill>
                  <a:srgbClr val="191919"/>
                </a:solidFill>
                <a:latin typeface="Times New Roman"/>
              </a:rPr>
              <a:t>Resource Usage, Irrigation and Variable Relationships</a:t>
            </a:r>
          </a:p>
        </p:txBody>
      </p:sp>
      <p:pic>
        <p:nvPicPr>
          <p:cNvPr id="32" name="Picture 31" descr="mpss10.jpg"/>
          <p:cNvPicPr>
            <a:picLocks noChangeAspect="1"/>
          </p:cNvPicPr>
          <p:nvPr/>
        </p:nvPicPr>
        <p:blipFill>
          <a:blip r:embed="rId3"/>
          <a:stretch>
            <a:fillRect/>
          </a:stretch>
        </p:blipFill>
        <p:spPr>
          <a:xfrm>
            <a:off x="540989" y="1508760"/>
            <a:ext cx="2758501" cy="3520440"/>
          </a:xfrm>
          <a:prstGeom prst="rect">
            <a:avLst/>
          </a:prstGeom>
        </p:spPr>
      </p:pic>
      <p:pic>
        <p:nvPicPr>
          <p:cNvPr id="33" name="Picture 32" descr="mpss11.jpg"/>
          <p:cNvPicPr>
            <a:picLocks noChangeAspect="1"/>
          </p:cNvPicPr>
          <p:nvPr/>
        </p:nvPicPr>
        <p:blipFill>
          <a:blip r:embed="rId4"/>
          <a:stretch>
            <a:fillRect/>
          </a:stretch>
        </p:blipFill>
        <p:spPr>
          <a:xfrm>
            <a:off x="3383280" y="2816828"/>
            <a:ext cx="2103120" cy="995744"/>
          </a:xfrm>
          <a:prstGeom prst="rect">
            <a:avLst/>
          </a:prstGeom>
        </p:spPr>
      </p:pic>
      <p:pic>
        <p:nvPicPr>
          <p:cNvPr id="34" name="Picture 33" descr="mpss12.jpg"/>
          <p:cNvPicPr>
            <a:picLocks noChangeAspect="1"/>
          </p:cNvPicPr>
          <p:nvPr/>
        </p:nvPicPr>
        <p:blipFill>
          <a:blip r:embed="rId5"/>
          <a:stretch>
            <a:fillRect/>
          </a:stretch>
        </p:blipFill>
        <p:spPr>
          <a:xfrm>
            <a:off x="5408273" y="1842453"/>
            <a:ext cx="4200999" cy="3173094"/>
          </a:xfrm>
          <a:prstGeom prst="rect">
            <a:avLst/>
          </a:prstGeom>
        </p:spPr>
      </p:pic>
      <p:sp>
        <p:nvSpPr>
          <p:cNvPr id="35" name="TextBox 34"/>
          <p:cNvSpPr txBox="1"/>
          <p:nvPr/>
        </p:nvSpPr>
        <p:spPr>
          <a:xfrm>
            <a:off x="640080" y="5166360"/>
            <a:ext cx="7772400" cy="594360"/>
          </a:xfrm>
          <a:prstGeom prst="rect">
            <a:avLst/>
          </a:prstGeom>
          <a:noFill/>
        </p:spPr>
        <p:txBody>
          <a:bodyPr wrap="square">
            <a:spAutoFit/>
          </a:bodyPr>
          <a:lstStyle/>
          <a:p>
            <a:pPr algn="l"/>
            <a:r>
              <a:rPr sz="1300" b="0" i="1">
                <a:solidFill>
                  <a:srgbClr val="464646"/>
                </a:solidFill>
                <a:latin typeface="Times New Roman"/>
              </a:rPr>
              <a:t>Key observation: Sprinkler irrigation has the highest average water usage among the methods shown. The correlation heatmap highlights strong relationships among production, revenue, profit and agricultural input variables.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400" b="1" dirty="0">
                <a:solidFill>
                  <a:srgbClr val="191919"/>
                </a:solidFill>
                <a:latin typeface="Times New Roman"/>
              </a:rPr>
              <a:t>RESULTS </a:t>
            </a:r>
            <a:endParaRPr lang="en-IN" sz="44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051560"/>
            <a:ext cx="7680960" cy="411480"/>
          </a:xfrm>
          <a:prstGeom prst="rect">
            <a:avLst/>
          </a:prstGeom>
          <a:noFill/>
        </p:spPr>
        <p:txBody>
          <a:bodyPr wrap="square">
            <a:spAutoFit/>
          </a:bodyPr>
          <a:lstStyle/>
          <a:p>
            <a:pPr algn="l"/>
            <a:r>
              <a:rPr sz="2400" b="1" dirty="0">
                <a:solidFill>
                  <a:srgbClr val="191919"/>
                </a:solidFill>
                <a:latin typeface="Times New Roman"/>
              </a:rPr>
              <a:t>Distribution and Outlier Analysis</a:t>
            </a:r>
          </a:p>
        </p:txBody>
      </p:sp>
      <p:pic>
        <p:nvPicPr>
          <p:cNvPr id="32" name="Picture 31" descr="mpss13.jpg"/>
          <p:cNvPicPr>
            <a:picLocks noChangeAspect="1"/>
          </p:cNvPicPr>
          <p:nvPr/>
        </p:nvPicPr>
        <p:blipFill>
          <a:blip r:embed="rId3"/>
          <a:stretch>
            <a:fillRect/>
          </a:stretch>
        </p:blipFill>
        <p:spPr>
          <a:xfrm>
            <a:off x="411480" y="1703333"/>
            <a:ext cx="2514600" cy="3177013"/>
          </a:xfrm>
          <a:prstGeom prst="rect">
            <a:avLst/>
          </a:prstGeom>
        </p:spPr>
      </p:pic>
      <p:pic>
        <p:nvPicPr>
          <p:cNvPr id="33" name="Picture 32" descr="mpss14.jpg"/>
          <p:cNvPicPr>
            <a:picLocks noChangeAspect="1"/>
          </p:cNvPicPr>
          <p:nvPr/>
        </p:nvPicPr>
        <p:blipFill>
          <a:blip r:embed="rId4"/>
          <a:stretch>
            <a:fillRect/>
          </a:stretch>
        </p:blipFill>
        <p:spPr>
          <a:xfrm>
            <a:off x="3063240" y="1709158"/>
            <a:ext cx="2514600" cy="3165363"/>
          </a:xfrm>
          <a:prstGeom prst="rect">
            <a:avLst/>
          </a:prstGeom>
        </p:spPr>
      </p:pic>
      <p:pic>
        <p:nvPicPr>
          <p:cNvPr id="34" name="Picture 33" descr="mpss15.jpg"/>
          <p:cNvPicPr>
            <a:picLocks noChangeAspect="1"/>
          </p:cNvPicPr>
          <p:nvPr/>
        </p:nvPicPr>
        <p:blipFill>
          <a:blip r:embed="rId5"/>
          <a:stretch>
            <a:fillRect/>
          </a:stretch>
        </p:blipFill>
        <p:spPr>
          <a:xfrm>
            <a:off x="5715000" y="1705999"/>
            <a:ext cx="2514600" cy="3171681"/>
          </a:xfrm>
          <a:prstGeom prst="rect">
            <a:avLst/>
          </a:prstGeom>
        </p:spPr>
      </p:pic>
      <p:sp>
        <p:nvSpPr>
          <p:cNvPr id="35" name="TextBox 34"/>
          <p:cNvSpPr txBox="1"/>
          <p:nvPr/>
        </p:nvSpPr>
        <p:spPr>
          <a:xfrm>
            <a:off x="640080" y="5166360"/>
            <a:ext cx="7772400" cy="594360"/>
          </a:xfrm>
          <a:prstGeom prst="rect">
            <a:avLst/>
          </a:prstGeom>
          <a:noFill/>
        </p:spPr>
        <p:txBody>
          <a:bodyPr wrap="square">
            <a:spAutoFit/>
          </a:bodyPr>
          <a:lstStyle/>
          <a:p>
            <a:pPr algn="l"/>
            <a:r>
              <a:rPr sz="1300" b="0" i="1">
                <a:solidFill>
                  <a:srgbClr val="464646"/>
                </a:solidFill>
                <a:latin typeface="Times New Roman"/>
              </a:rPr>
              <a:t>The histograms and boxplots were used to examine the distribution of yield, production and water usage and to identify possible extreme observations without automatically removing them.</a:t>
            </a:r>
          </a:p>
        </p:txBody>
      </p:sp>
      <p:pic>
        <p:nvPicPr>
          <p:cNvPr id="6" name="Picture 5">
            <a:extLst>
              <a:ext uri="{FF2B5EF4-FFF2-40B4-BE49-F238E27FC236}">
                <a16:creationId xmlns:a16="http://schemas.microsoft.com/office/drawing/2014/main" id="{3CC69D70-0C4B-A72D-592C-695F3632CDEE}"/>
              </a:ext>
            </a:extLst>
          </p:cNvPr>
          <p:cNvPicPr>
            <a:picLocks noChangeAspect="1"/>
          </p:cNvPicPr>
          <p:nvPr/>
        </p:nvPicPr>
        <p:blipFill>
          <a:blip r:embed="rId6"/>
          <a:stretch>
            <a:fillRect/>
          </a:stretch>
        </p:blipFill>
        <p:spPr>
          <a:xfrm>
            <a:off x="8354817" y="1613466"/>
            <a:ext cx="3837184" cy="36310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1023198" y="691942"/>
            <a:ext cx="4735798" cy="830997"/>
          </a:xfrm>
        </p:spPr>
        <p:txBody>
          <a:bodyPr>
            <a:normAutofit/>
          </a:bodyPr>
          <a:lstStyle/>
          <a:p>
            <a:r>
              <a:rPr lang="en-IN" sz="4400" b="1" dirty="0">
                <a:solidFill>
                  <a:srgbClr val="191919"/>
                </a:solidFill>
                <a:latin typeface="Times New Roman"/>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914400" y="1737360"/>
            <a:ext cx="7315200" cy="2246769"/>
          </a:xfrm>
          <a:prstGeom prst="rect">
            <a:avLst/>
          </a:prstGeom>
          <a:noFill/>
        </p:spPr>
        <p:txBody>
          <a:bodyPr wrap="square">
            <a:spAutoFit/>
          </a:bodyPr>
          <a:lstStyle/>
          <a:p>
            <a:pPr algn="l"/>
            <a:r>
              <a:rPr sz="2000" b="0" dirty="0">
                <a:solidFill>
                  <a:srgbClr val="191919"/>
                </a:solidFill>
                <a:latin typeface="Times New Roman"/>
              </a:rPr>
              <a:t>• Include real-time weather and market price data.</a:t>
            </a:r>
            <a:br>
              <a:rPr sz="2000" dirty="0"/>
            </a:br>
            <a:r>
              <a:rPr sz="2000" dirty="0">
                <a:solidFill>
                  <a:srgbClr val="191919"/>
                </a:solidFill>
                <a:latin typeface="Times New Roman"/>
              </a:rPr>
              <a:t>• Expand the dataset with more crops, regions and multiple years.</a:t>
            </a:r>
            <a:br>
              <a:rPr sz="2000" dirty="0"/>
            </a:br>
            <a:r>
              <a:rPr sz="2000" dirty="0">
                <a:solidFill>
                  <a:srgbClr val="191919"/>
                </a:solidFill>
                <a:latin typeface="Times New Roman"/>
              </a:rPr>
              <a:t>• Build predictive models for crop yield and profitability.</a:t>
            </a:r>
            <a:br>
              <a:rPr sz="2000" dirty="0"/>
            </a:br>
            <a:r>
              <a:rPr sz="2000" dirty="0">
                <a:solidFill>
                  <a:srgbClr val="191919"/>
                </a:solidFill>
                <a:latin typeface="Times New Roman"/>
              </a:rPr>
              <a:t>• Develop an interactive dashboard for seasonal monitoring.</a:t>
            </a:r>
            <a:br>
              <a:rPr sz="2000" dirty="0"/>
            </a:br>
            <a:r>
              <a:rPr sz="2000" dirty="0">
                <a:solidFill>
                  <a:srgbClr val="191919"/>
                </a:solidFill>
                <a:latin typeface="Times New Roman"/>
              </a:rPr>
              <a:t>• Use GIS and satellite data for region-level agricultural analysis.</a:t>
            </a:r>
            <a:br>
              <a:rPr sz="2000" dirty="0"/>
            </a:br>
            <a:r>
              <a:rPr sz="2000" dirty="0">
                <a:solidFill>
                  <a:srgbClr val="191919"/>
                </a:solidFill>
                <a:latin typeface="Times New Roman"/>
              </a:rPr>
              <a:t>• Provide personalized recommendations for irrigation and crop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400" b="1" dirty="0">
                <a:solidFill>
                  <a:srgbClr val="191919"/>
                </a:solidFill>
                <a:latin typeface="Times New Roman"/>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2172931" y="262960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hlinkClick r:id="rId3"/>
            <a:extLst>
              <a:ext uri="{FF2B5EF4-FFF2-40B4-BE49-F238E27FC236}">
                <a16:creationId xmlns:a16="http://schemas.microsoft.com/office/drawing/2014/main" id="{9620EA25-F711-8BDD-08BF-4E4983F5392E}"/>
              </a:ext>
            </a:extLst>
          </p:cNvPr>
          <p:cNvSpPr txBox="1"/>
          <p:nvPr/>
        </p:nvSpPr>
        <p:spPr>
          <a:xfrm>
            <a:off x="798653" y="2239489"/>
            <a:ext cx="8738885"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https://github.com/Srikumarsk/Seasonal_Agriculture_Performance_Analysis</a:t>
            </a:r>
          </a:p>
        </p:txBody>
      </p:sp>
      <p:sp>
        <p:nvSpPr>
          <p:cNvPr id="3" name="TextBox 2">
            <a:extLst>
              <a:ext uri="{FF2B5EF4-FFF2-40B4-BE49-F238E27FC236}">
                <a16:creationId xmlns:a16="http://schemas.microsoft.com/office/drawing/2014/main" id="{0951F0D3-E41D-DC92-020F-6B5E4D21FE5D}"/>
              </a:ext>
            </a:extLst>
          </p:cNvPr>
          <p:cNvSpPr txBox="1"/>
          <p:nvPr/>
        </p:nvSpPr>
        <p:spPr>
          <a:xfrm>
            <a:off x="798653" y="3129477"/>
            <a:ext cx="7536871"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Repository Contents:</a:t>
            </a:r>
          </a:p>
          <a:p>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Project Presentation (PPT) </a:t>
            </a:r>
          </a:p>
          <a:p>
            <a:pPr marL="285750" lvl="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Problem Statement </a:t>
            </a:r>
          </a:p>
          <a:p>
            <a:pPr marL="285750" lvl="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Agricultural Dataset (CSV) </a:t>
            </a:r>
          </a:p>
          <a:p>
            <a:pPr marL="285750" lvl="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Python Source Code and Data 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10354716" cy="884658"/>
          </a:xfrm>
        </p:spPr>
        <p:txBody>
          <a:bodyPr>
            <a:noAutofit/>
          </a:bodyPr>
          <a:lstStyle/>
          <a:p>
            <a:r>
              <a:rPr sz="4400" b="1" dirty="0">
                <a:solidFill>
                  <a:srgbClr val="191919"/>
                </a:solidFill>
                <a:latin typeface="Times New Roman"/>
              </a:rPr>
              <a:t>VOIS Course Completion Certificate</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6D77919-3E2F-6C3C-6027-14D01DE3D82E}"/>
              </a:ext>
            </a:extLst>
          </p:cNvPr>
          <p:cNvPicPr>
            <a:picLocks noChangeAspect="1"/>
          </p:cNvPicPr>
          <p:nvPr/>
        </p:nvPicPr>
        <p:blipFill>
          <a:blip r:embed="rId3"/>
          <a:stretch>
            <a:fillRect/>
          </a:stretch>
        </p:blipFill>
        <p:spPr>
          <a:xfrm>
            <a:off x="1219968" y="1275371"/>
            <a:ext cx="8815284" cy="540971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3078943"/>
            <a:ext cx="11340000" cy="700114"/>
          </a:xfrm>
          <a:prstGeom prst="rect">
            <a:avLst/>
          </a:prstGeom>
        </p:spPr>
        <p:txBody>
          <a:bodyPr anchor="ctr">
            <a:noAutofit/>
          </a:bodyPr>
          <a:lstStyle/>
          <a:p>
            <a:pPr algn="ctr"/>
            <a:r>
              <a:rPr lang="en-US" sz="4400" b="1" dirty="0">
                <a:solidFill>
                  <a:srgbClr val="191919"/>
                </a:solidFill>
                <a:latin typeface="Times New Roman"/>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sz="1800" dirty="0">
                <a:solidFill>
                  <a:srgbClr val="191919"/>
                </a:solidFill>
                <a:latin typeface="Times New Roman"/>
              </a:rPr>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800" dirty="0">
                <a:solidFill>
                  <a:srgbClr val="191919"/>
                </a:solidFill>
                <a:latin typeface="Times New Roman"/>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595</TotalTime>
  <Words>528</Words>
  <Application>Microsoft Office PowerPoint</Application>
  <PresentationFormat>Widescreen</PresentationFormat>
  <Paragraphs>42</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This project performs Exploratory Data Analysis on seasonal agricultural data. The analysis compares crop yield, production, revenue, profit, environmental conditions, water usage, irrigation methods and regional performance. Statistical summaries, comparison charts, scatter plots, correlation analysis and distribution analysis are used to identify useful seasonal patterns and support data-driven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sri kumar muppidi</cp:lastModifiedBy>
  <cp:revision>98</cp:revision>
  <dcterms:created xsi:type="dcterms:W3CDTF">2021-07-11T13:13:15Z</dcterms:created>
  <dcterms:modified xsi:type="dcterms:W3CDTF">2026-09-03T16:24:22Z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